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Вид изнутри каменной конструкции на лестницу и ясное голубое небо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Современное белое здание со стеклянными панелями на фоне ясного голубого неба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Небольшая часть современного моста в виде ракушки в Циндао (Шаньдун, Китай) под небом с редкими облаками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Вид под углом снизу на фасад современного здания с алюминиевыми дисками под ясным голубым небом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Вид под углом снизу на современное изогнутое здание под облачным небом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Вид изнутри современного белого здания со стеклянными панелями на ясное небо с редкими облаками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Вид под углом снизу на башню Азади в Тегеране (Иран) на фоне безоблачного ясного неба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tif"/><Relationship Id="rId3" Type="http://schemas.openxmlformats.org/officeDocument/2006/relationships/image" Target="../media/image4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Автор и дат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Метрики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Метрики</a:t>
            </a:r>
          </a:p>
        </p:txBody>
      </p:sp>
      <p:sp>
        <p:nvSpPr>
          <p:cNvPr id="173" name="Анализ пользовательских действий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Анализ пользовательских действий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Основные данны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Основные данные</a:t>
            </a:r>
          </a:p>
        </p:txBody>
      </p:sp>
      <p:sp>
        <p:nvSpPr>
          <p:cNvPr id="176" name="Главная страница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Главная страница </a:t>
            </a:r>
          </a:p>
        </p:txBody>
      </p:sp>
      <p:sp>
        <p:nvSpPr>
          <p:cNvPr id="177" name="При подключении счетчика становится доступна общая статистика посещений сайта"/>
          <p:cNvSpPr txBox="1"/>
          <p:nvPr>
            <p:ph type="body" sz="quarter" idx="1"/>
          </p:nvPr>
        </p:nvSpPr>
        <p:spPr>
          <a:xfrm>
            <a:off x="1206500" y="4248504"/>
            <a:ext cx="10789874" cy="3654061"/>
          </a:xfrm>
          <a:prstGeom prst="rect">
            <a:avLst/>
          </a:prstGeom>
        </p:spPr>
        <p:txBody>
          <a:bodyPr/>
          <a:lstStyle/>
          <a:p>
            <a:pPr/>
            <a:r>
              <a:t>При подключении счетчика становится доступна общая статистика посещений сайта</a:t>
            </a:r>
          </a:p>
        </p:txBody>
      </p:sp>
      <p:pic>
        <p:nvPicPr>
          <p:cNvPr id="178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02520" y="7012090"/>
            <a:ext cx="15913101" cy="5816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Основные данны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Основные данные</a:t>
            </a:r>
          </a:p>
        </p:txBody>
      </p:sp>
      <p:sp>
        <p:nvSpPr>
          <p:cNvPr id="181" name="Плюсы и минусы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Плюсы и минусы</a:t>
            </a:r>
          </a:p>
        </p:txBody>
      </p:sp>
      <p:sp>
        <p:nvSpPr>
          <p:cNvPr id="182" name="Плюсы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5000"/>
            </a:pPr>
            <a:r>
              <a:t>Плюсы:</a:t>
            </a:r>
          </a:p>
          <a:p>
            <a:pPr lvl="1"/>
            <a:r>
              <a:t>Дает базовые сведения о сайте</a:t>
            </a:r>
          </a:p>
          <a:p>
            <a:pPr lvl="1"/>
            <a:r>
              <a:t>Позволяет оценить пользовательский охват</a:t>
            </a:r>
          </a:p>
          <a:p>
            <a:pPr>
              <a:defRPr b="1" sz="5000"/>
            </a:pPr>
            <a:r>
              <a:t>Минусы:</a:t>
            </a:r>
          </a:p>
          <a:p>
            <a:pPr lvl="1"/>
            <a:r>
              <a:t>Данные слишком общие. Оценивать пользовательский опыт только по ним бесполезно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Посетител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Посетители</a:t>
            </a:r>
          </a:p>
        </p:txBody>
      </p:sp>
      <p:sp>
        <p:nvSpPr>
          <p:cNvPr id="185" name="Информация о посетителях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Информация о посетителях</a:t>
            </a:r>
          </a:p>
        </p:txBody>
      </p:sp>
      <p:sp>
        <p:nvSpPr>
          <p:cNvPr id="186" name="На вкладке Посетители можно оценить количество пользователей и их поведение"/>
          <p:cNvSpPr txBox="1"/>
          <p:nvPr>
            <p:ph type="body" sz="quarter" idx="1"/>
          </p:nvPr>
        </p:nvSpPr>
        <p:spPr>
          <a:xfrm>
            <a:off x="1206500" y="4248504"/>
            <a:ext cx="18197068" cy="3183387"/>
          </a:xfrm>
          <a:prstGeom prst="rect">
            <a:avLst/>
          </a:prstGeom>
        </p:spPr>
        <p:txBody>
          <a:bodyPr/>
          <a:lstStyle/>
          <a:p>
            <a:pPr/>
            <a:r>
              <a:t>На вкладке Посетители можно оценить количество пользователей и их поведение</a:t>
            </a:r>
          </a:p>
        </p:txBody>
      </p:sp>
      <p:pic>
        <p:nvPicPr>
          <p:cNvPr id="187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18000" y="6678527"/>
            <a:ext cx="15748001" cy="5194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Посетител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Посетители</a:t>
            </a:r>
          </a:p>
        </p:txBody>
      </p:sp>
      <p:sp>
        <p:nvSpPr>
          <p:cNvPr id="190" name="Плюсы и минусы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Плюсы и минусы</a:t>
            </a:r>
          </a:p>
        </p:txBody>
      </p:sp>
      <p:sp>
        <p:nvSpPr>
          <p:cNvPr id="191" name="Плюсы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5000"/>
            </a:pPr>
            <a:r>
              <a:t>Плюсы:</a:t>
            </a:r>
          </a:p>
          <a:p>
            <a:pPr lvl="1"/>
            <a:r>
              <a:t>Дает более конкретные данные по посетителям</a:t>
            </a:r>
          </a:p>
          <a:p>
            <a:pPr lvl="1"/>
            <a:r>
              <a:t>Можно оценить активность пользователей в зависимости от браузера или платформы</a:t>
            </a:r>
          </a:p>
          <a:p>
            <a:pPr lvl="1"/>
            <a:r>
              <a:t>Дает обзор по достижению целей (если они настроены)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Вебвизор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Вебвизор</a:t>
            </a:r>
          </a:p>
        </p:txBody>
      </p:sp>
      <p:sp>
        <p:nvSpPr>
          <p:cNvPr id="194" name="Запись пользовательских действий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Запись пользовательских действий</a:t>
            </a:r>
          </a:p>
        </p:txBody>
      </p:sp>
      <p:sp>
        <p:nvSpPr>
          <p:cNvPr id="195" name="Если настроить для созданного счетчика вебвизор, появится возможность просматривать действия пользователя на сайте"/>
          <p:cNvSpPr txBox="1"/>
          <p:nvPr>
            <p:ph type="body" sz="quarter" idx="1"/>
          </p:nvPr>
        </p:nvSpPr>
        <p:spPr>
          <a:xfrm>
            <a:off x="1206500" y="4248504"/>
            <a:ext cx="18487495" cy="2334862"/>
          </a:xfrm>
          <a:prstGeom prst="rect">
            <a:avLst/>
          </a:prstGeom>
        </p:spPr>
        <p:txBody>
          <a:bodyPr/>
          <a:lstStyle/>
          <a:p>
            <a:pPr/>
            <a:r>
              <a:t>Если настроить для созданного счетчика вебвизор, появится возможность просматривать действия пользователя на сайте</a:t>
            </a:r>
          </a:p>
        </p:txBody>
      </p:sp>
      <p:pic>
        <p:nvPicPr>
          <p:cNvPr id="196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6374" y="8153651"/>
            <a:ext cx="11841079" cy="34049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286843" y="7071238"/>
            <a:ext cx="8614891" cy="49715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Вебвизор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Вебвизор</a:t>
            </a:r>
          </a:p>
        </p:txBody>
      </p:sp>
      <p:sp>
        <p:nvSpPr>
          <p:cNvPr id="200" name="Плюсы и минусы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Плюсы и минусы</a:t>
            </a:r>
          </a:p>
        </p:txBody>
      </p:sp>
      <p:sp>
        <p:nvSpPr>
          <p:cNvPr id="201" name="Плюсы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5000"/>
            </a:pPr>
            <a:r>
              <a:t>Плюсы:</a:t>
            </a:r>
          </a:p>
          <a:p>
            <a:pPr lvl="1"/>
            <a:r>
              <a:t>Позволяет наиболее подробно изучить поведение выбранного пользователя</a:t>
            </a:r>
          </a:p>
          <a:p>
            <a:pPr>
              <a:defRPr b="1" sz="5000"/>
            </a:pPr>
            <a:r>
              <a:t>Минусы:</a:t>
            </a:r>
          </a:p>
          <a:p>
            <a:pPr lvl="1"/>
            <a:r>
              <a:t>Сохранение записи действий пользователя затрагивает больший объем персональных данных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Цел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Цели</a:t>
            </a:r>
          </a:p>
        </p:txBody>
      </p:sp>
      <p:sp>
        <p:nvSpPr>
          <p:cNvPr id="204" name="Добавленные пользовательские цели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Добавленные пользовательские цели</a:t>
            </a:r>
          </a:p>
        </p:txBody>
      </p:sp>
      <p:sp>
        <p:nvSpPr>
          <p:cNvPr id="205" name="Поскольку сайт является визиткой и единственным интерактивом является переход к нашим контактам и попытка по ним связаться, такие действия и были выбраны в качестве целей"/>
          <p:cNvSpPr txBox="1"/>
          <p:nvPr>
            <p:ph type="body" sz="half" idx="1"/>
          </p:nvPr>
        </p:nvSpPr>
        <p:spPr>
          <a:xfrm>
            <a:off x="1206500" y="4248504"/>
            <a:ext cx="15482038" cy="4807584"/>
          </a:xfrm>
          <a:prstGeom prst="rect">
            <a:avLst/>
          </a:prstGeom>
        </p:spPr>
        <p:txBody>
          <a:bodyPr/>
          <a:lstStyle/>
          <a:p>
            <a:pPr/>
            <a:r>
              <a:t>Поскольку сайт является визиткой и единственным интерактивом является переход к нашим контактам и попытка по ним связаться, такие действия и были выбраны в качестве целей</a:t>
            </a:r>
          </a:p>
        </p:txBody>
      </p:sp>
      <p:pic>
        <p:nvPicPr>
          <p:cNvPr id="206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30649" y="8365468"/>
            <a:ext cx="18122702" cy="38221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Цел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Цели</a:t>
            </a:r>
          </a:p>
        </p:txBody>
      </p:sp>
      <p:sp>
        <p:nvSpPr>
          <p:cNvPr id="209" name="Плюсы и минусы выбранных целей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Плюсы и минусы выбранных целей</a:t>
            </a:r>
          </a:p>
        </p:txBody>
      </p:sp>
      <p:sp>
        <p:nvSpPr>
          <p:cNvPr id="210" name="Плюсы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5000"/>
            </a:pPr>
            <a:r>
              <a:t>Плюсы:</a:t>
            </a:r>
          </a:p>
          <a:p>
            <a:pPr lvl="1"/>
            <a:r>
              <a:t>Позволяет оценить количество попыток связаться с администрацией проекта</a:t>
            </a:r>
          </a:p>
          <a:p>
            <a:pPr lvl="1"/>
            <a:r>
              <a:t>Помогает выявить наиболее комфортный способ связи</a:t>
            </a:r>
          </a:p>
          <a:p>
            <a:pPr>
              <a:defRPr b="1" sz="5000"/>
            </a:pPr>
            <a:r>
              <a:t>Минусы:</a:t>
            </a:r>
          </a:p>
          <a:p>
            <a:pPr lvl="1"/>
            <a:r>
              <a:t>Не учитывает случайные нажатия</a:t>
            </a:r>
          </a:p>
          <a:p>
            <a:pPr lvl="1"/>
            <a:r>
              <a:t>Не учитывает отказы после перехода к выбранному контакту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